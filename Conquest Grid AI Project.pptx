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Inter ExtraBold"/>
      <p:bold r:id="rId23"/>
      <p:boldItalic r:id="rId24"/>
    </p:embeddedFont>
    <p:embeddedFont>
      <p:font typeface="JetBrains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ExtraBold-boldItalic.fntdata"/><Relationship Id="rId23" Type="http://schemas.openxmlformats.org/officeDocument/2006/relationships/font" Target="fonts/Inter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bold.fntdata"/><Relationship Id="rId25" Type="http://schemas.openxmlformats.org/officeDocument/2006/relationships/font" Target="fonts/JetBrainsMono-regular.fntdata"/><Relationship Id="rId28" Type="http://schemas.openxmlformats.org/officeDocument/2006/relationships/font" Target="fonts/JetBrainsMono-boldItalic.fntdata"/><Relationship Id="rId27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7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31.png"/><Relationship Id="rId7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2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222152"/>
            <a:ext cx="11581447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Conquest Grid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279427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Advanced Game Agents &amp; Evaluation Framework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11200" y="4255425"/>
            <a:ext cx="3774300" cy="19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 sz="250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Calibri"/>
              <a:buAutoNum type="arabicPeriod"/>
            </a:pPr>
            <a:r>
              <a:rPr lang="en-US" sz="25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Harika Manchineella</a:t>
            </a:r>
            <a:endParaRPr sz="250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500"/>
              <a:buFont typeface="Calibri"/>
              <a:buAutoNum type="arabicPeriod"/>
            </a:pPr>
            <a:r>
              <a:rPr lang="en-US" sz="25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Karthik Kandimalla</a:t>
            </a:r>
            <a:endParaRPr sz="250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81025" y="278606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Objective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3300412"/>
            <a:ext cx="52292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design, implement, and rigorously evaluate Artificial Intelligence agents for "Conquest Grid", a complex territory-control strategy game. The project focuses on comparing classical search methods against stochastic simulation approaches.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252888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Key Components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858000" y="3005137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Game Engine: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custom 6x6 deterministic board game with "capture" mechanics.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858000" y="3757612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Suite: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Implementation of Random, Minimax (Alpha-Beta), MCTS, and Q-Learning agents.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858000" y="4510087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Evaluation: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robust tournament framework to measure win rates and decision quality.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72250" y="30051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72250" y="37576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72250" y="45100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Project Overview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581025"/>
            <a:ext cx="57150" cy="5619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548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81025" y="230505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Rules of Engagement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50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57275" y="2781300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Grid: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Played on a 6x6 board.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57275" y="3228975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Mechanic: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Placing a piece captures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adjacent opponent pieces (horizontal, vertical, diagonal).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57275" y="3981450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Turn-Based: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Players alternate placing pieces on empty cells.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57275" y="4733925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Victory: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player with the highest piece count when the board is full wins.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27813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71525" y="32289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71525" y="39814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71525" y="47339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Game: Conquest Grid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581025"/>
            <a:ext cx="57150" cy="5619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14550"/>
            <a:ext cx="34861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14550"/>
            <a:ext cx="34861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14550"/>
            <a:ext cx="348615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03910" y="3162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Game Engine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76300" y="367665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NumPy-based state management. Handles move validation, piece capturing logic, and win condition checks.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575810" y="3162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AI Agents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48200" y="367665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Modular agent interface (BaseAgent). Includes Random, Minimax, MCTS, and Q-Learning implementations.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347710" y="3162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Evaluator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420100" y="367665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Tournament runner and metric collector. Measures win rates, execution time, and move quality.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4075" y="24574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4574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4574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System Architecture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81025" y="581025"/>
            <a:ext cx="57150" cy="5619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71525" y="771525"/>
            <a:ext cx="499062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Minimax Agent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81025" y="771525"/>
            <a:ext cx="57150" cy="5619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581025" y="1714500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Deterministic Search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2371725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Minimax agent explores the game tree to a fixed depth, assuming the opponent plays optimally. It guarantees the best possible move within its search horizon.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81025" y="397192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Key Features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057275" y="4591050"/>
            <a:ext cx="4467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Alpha-Beta Pruning: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Significantly reduces the search space by eliminating branches that don't need to be evaluated.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057275" y="5648325"/>
            <a:ext cx="4467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Depth Limited: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Configurable depth (default=3) to balance decision quality with computation time.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71525" y="45910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71525" y="56483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37420"/>
            <a:ext cx="3486150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937420"/>
            <a:ext cx="3486150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937420"/>
            <a:ext cx="3486150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803910" y="398517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Territory Control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76300" y="449952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difference in piece count between the agent and the opponent. Primary driver of victory.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575810" y="398517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Center Control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648200" y="449952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Bonus points for occupying the 4 central squares, which offer strategic influence over the board.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347710" y="398517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Mobility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420100" y="449952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number of valid moves available. Prevents the agent from getting boxed into bad positions.</a:t>
            </a:r>
            <a:endParaRPr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8350" y="328032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328032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3280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Heuristic Evaluation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81025" y="581025"/>
            <a:ext cx="57150" cy="5619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581025" y="1752600"/>
            <a:ext cx="110299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Since the game tree is too large to solve completely, we evaluate leaf nodes using a weighted formula: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71525" y="771525"/>
            <a:ext cx="499062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MCTS Agent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81025" y="771525"/>
            <a:ext cx="57150" cy="5619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581025" y="1714500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Stochastic Simulation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81025" y="2371725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Monte Carlo Tree Search (MCTS) builds a search tree asymmetrically by simulating random games. It excels in complex states where static heuristics fail.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81025" y="366712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Process Loop</a:t>
            </a:r>
            <a:endParaRPr/>
          </a:p>
        </p:txBody>
      </p:sp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1057275" y="4286250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Selection: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Choose promising nodes using UCB1.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057275" y="4733925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Expansion: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Add new child nodes.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057275" y="5181600"/>
            <a:ext cx="446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Play random moves until game end.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057275" y="5629275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Backpropagation: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Update win/loss stats up the tree.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71525" y="4286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71525" y="47339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71525" y="51816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771525" y="56292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352948"/>
            <a:ext cx="5229225" cy="1094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81025" y="2184350"/>
            <a:ext cx="52292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MCTS uses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Upper Confidence Bound 1 (UCB1)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formula to decide which node to explore next. It balances visiting known high-win nodes (Exploitation) with visiting rarely visited nodes (Exploration).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057275" y="3936950"/>
            <a:ext cx="4752975" cy="339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Number of wins for the node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1057275" y="4419600"/>
            <a:ext cx="4752975" cy="339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ni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Number of visits for the node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057275" y="4902249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Total visits of the parent node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057275" y="5349924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Exploration constant (usually √2)</a:t>
            </a:r>
            <a:endParaRPr/>
          </a:p>
        </p:txBody>
      </p:sp>
      <p:pic>
        <p:nvPicPr>
          <p:cNvPr descr="image.png" id="206" name="Google Shape;2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1450" y="3648223"/>
            <a:ext cx="2409676" cy="50437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771525" y="3936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771525" y="44196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771525" y="4902249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71525" y="5349924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Balancing Exploration vs. Exploitation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81025" y="581025"/>
            <a:ext cx="57150" cy="5619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771525" y="771525"/>
            <a:ext cx="499062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Q-Learning Agent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81025" y="771525"/>
            <a:ext cx="57150" cy="5619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81025" y="1714500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Learning from Experience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581025" y="2371725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Unlike search algorithms, the Q-Learning agent learns a policy table mapping states to action values. It improves over time by playing thousands of games against itself or others.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81025" y="397192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Mechanics</a:t>
            </a:r>
            <a:endParaRPr/>
          </a:p>
        </p:txBody>
      </p:sp>
      <p:pic>
        <p:nvPicPr>
          <p:cNvPr descr="image.png"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1057275" y="4591050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Uses an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ε-greedy strategy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explore random moves occasionally.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057275" y="5343525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Updates Q-values based on rewards received at the end of the game.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057275" y="6096000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Currently implemented as a foundation for future Deep Reinforcement Learning.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71525" y="45910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71525" y="53435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771525" y="60960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81025" y="184785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Tournament Protocol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81025" y="2362200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determine the "best" agent, we conduct a round-robin tournament where every agent plays every other agent 100 times.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81025" y="36576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Fairness Measures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381750" y="245745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Key Metrics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057275" y="4133850"/>
            <a:ext cx="47529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Alternating Starts: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Each pair plays 50 games as Player 1 and 50 as Player 2 to negate first-mover advantage.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057275" y="5191125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Strict Time Limits: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Agents exceeding move time limits are disqualified (though rare in this grid size).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858000" y="2933700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Win Rate: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Percentage of games won.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858000" y="3381375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Move Time: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Average computation time per turn.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858000" y="4133850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Nodes/Sims: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Complexity of the search.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858000" y="4581525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Decision Quality: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Compare moves against an Oracle (Minimax Depth 5).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71525" y="41338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771525" y="51911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572250" y="29337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572250" y="33813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572250" y="41338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572250" y="45815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pic>
        <p:nvPicPr>
          <p:cNvPr descr="image.png" id="251" name="Google Shape;2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29860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34337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41862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46339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Evaluation Framework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81025" y="581025"/>
            <a:ext cx="57150" cy="5619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24000"/>
            <a:ext cx="1102995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581025" y="4452937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MCTS consistently outperforms Minimax at Depth 3 because it can plan deeper into the game using simulations, whereas Minimax is limited by its rigid horizon.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Tournament Results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581025" y="581025"/>
            <a:ext cx="57150" cy="5619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14550"/>
            <a:ext cx="34861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14550"/>
            <a:ext cx="34861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14550"/>
            <a:ext cx="348615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803910" y="3162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Deep RL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876300" y="367665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Replace the tabular Q-Learning with a Deep Q-Network (DQN) to handle larger board sizes and more complex states without a lookup table.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4575810" y="3162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Optimization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4648200" y="367665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Rewrite the core game engine in C++ or Rust and expose bindings to Python. This would allow MCTS to run 10x more simulations in real-time.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8347710" y="3162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0A5F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Web GUI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8420100" y="367665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Expand the FastAPI backend to serve a React-based frontend, allowing users to play against the AI agents in the browser.</a:t>
            </a:r>
            <a:endParaRPr/>
          </a:p>
        </p:txBody>
      </p:sp>
      <p:pic>
        <p:nvPicPr>
          <p:cNvPr descr="image.png" id="280" name="Google Shape;28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8350" y="24574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4574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0725" y="24574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771525" y="581025"/>
            <a:ext cx="1138142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Future Roadmap</a:t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581025" y="581025"/>
            <a:ext cx="57150" cy="5619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305276" y="732680"/>
            <a:ext cx="1158144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Questions?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581025" y="1694705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